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Bef>
                <a:spcPts val="2000"/>
              </a:spcBef>
              <a:defRPr sz="1600">
                <a:solidFill>
                  <a:srgbClr val="0D9488"/>
                </a:solidFill>
                <a:latin typeface="Arial"/>
              </a:defRPr>
            </a:pPr>
            <a:r>
              <a:t>End-to-End Data Engineering &amp; BI Dashboard | Bluestock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Arial"/>
              </a:defRPr>
            </a:pPr>
            <a:r>
              <a:t>Prepared by: Intern / Data Analyst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 &amp;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&lt;b&gt;Core Problems Addressed:&lt;/b&gt;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&lt;b&gt;Data Fragmentation:&lt;/b&gt; NAV, AUM, and SIP data scattered in TXT/PDF formats across AMFI &amp; AMC portals.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&lt;b&gt;Performance Analysis Gap:&lt;/b&gt; Retail investors struggle to evaluate risk-adjusted statistics (Sharpe, Sortino, Alpha, Beta).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&lt;b&gt;Lack of Benchmark Tracking:&lt;/b&gt; Inability to verify index outperformance (Alpha &amp; tracking error vs Nifty indices).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&lt;b&gt;Investor Behaviour Blind Spot:&lt;/b&gt; Limited geographic and demographic visibility for targeted campaigns.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&lt;b&gt;Key Objectives &amp; Outcomes:&lt;/b&gt;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&lt;b&gt;O1:&lt;/b&gt; Ingest daily NAV data for 40 mutual funds via public API pipelines.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&lt;b&gt;O2:&lt;/b&gt; Build a normalized star schema SQLite relational database.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&lt;b&gt;O3:&lt;/b&gt; Perform detailed EDA on NAV, AUM, and investor transactions.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&lt;b&gt;O4:&lt;/b&gt; Compute performance scorecards and downside Value at Risk (VaR).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&lt;b&gt;O5:&lt;/b&gt; Develop a 4-page interactive dashboard with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 Sources &amp; Project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&lt;b&gt;Primary Sources:&lt;/b&gt;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&lt;b&gt;AMFI India:&lt;/b&gt; Daily scheme NAVs &amp; monthly aggregate notes.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&lt;b&gt;mfapi.in REST API:&lt;/b&gt; Anchored historical NAV JSON feeds.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&lt;b&gt;NSE/BSE India:&lt;/b&gt; Daily index closing prices (Nifty 50, Nifty 100).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&lt;b&gt;Synthesized Logs:&lt;/b&gt; 32,000+ transaction logs modeled after real demographic distributions.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&lt;b&gt;Core Datasets Integrated:&lt;/b&gt;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1. &lt;b&gt;01_fund_master:&lt;/b&gt; Scheme attributes (AMC, category, expense, manager).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2. &lt;b&gt;02_nav_history:&lt;/b&gt; Daily NAV data from Jan 2022 to May 2026 (~46,000 rows).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3. &lt;b&gt;03_aum_by_fund_house:&lt;/b&gt; Quarterly AUM figures for top 10 AMCs.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4. &lt;b&gt;04_monthly_sip_inflows:&lt;/b&gt; Month-wise SIP inflows &amp; registrations.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5. &lt;b&gt;08_investor_transactions:&lt;/b&gt; Transactions for 5,000 investors across 12 states.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6. &lt;b&gt;09_portfolio_holdings:&lt;/b&gt; Stock holding weights &amp; sector allocations.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Architecture &amp;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&lt;b&gt;Data Pipeline Workflow:&lt;/b&gt;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&lt;b&gt;1. Extract:&lt;/b&gt; Python scripts fetch live NAVs from API (mfapi.in) and parse static flat files.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&lt;b&gt;2. Transform:&lt;/b&gt; Gaps (holidays/weekends) resolved using forward-fill; dates standardized; columns aligned and validated.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&lt;b&gt;3. Load:&lt;/b&gt; Schema created via schema.sql and populated into SQLite database (bluestock_mf.db).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&lt;b&gt;4. Analyze:&lt;/b&gt; Calculations for CAGRs, Sharpe/Sortino ratios, OLS index regressions, VaR/CVaR, and sector HHI.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&lt;b&gt;5. Visualise:&lt;/b&gt; Power BI imports data for multi-dimensional slicing.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&lt;b&gt;Relational Schema Highlights:&lt;/b&gt;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&lt;b&gt;dim_fund:&lt;/b&gt; Static master reference (PK: amfi_code).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&lt;b&gt;dim_date:&lt;/b&gt; Date dimension (PK: date).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&lt;b&gt;fact_nav:&lt;/b&gt; NAV facts (FKs: amfi_code, date).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&lt;b&gt;fact_transactions:&lt;/b&gt; Investor transactions (FKs: amfi_code, date).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&lt;b&gt;fact_performance:&lt;/b&gt; Quantitative performance facts.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&lt;b&gt;fact_portfolio:&lt;/b&gt; Stock holdings allocations facts.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&lt;b&gt;Indexes:&lt;/b&gt; Optimizations on fact_nav(amfi_code, date) and transaction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EDA Highlights I: Industry SIP Growth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&lt;b&gt;Industry-wide Trends (2022-2025):&lt;/b&gt;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&lt;b&gt;Assets Growth:&lt;/b&gt; Industry AUM grew to Rs. 81 lakh crore in December 2025.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&lt;b&gt;SIP Expansion:&lt;/b&gt; Active SIP accounts reached 9.35 crore, and monthly inflows peaked at Rs. 31,002 crore.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&lt;b&gt;Folio Inflows:&lt;/b&gt; Folio counts increased from 13.26 crore to 26.12 crore, showing growth in retail investor interest.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&lt;b&gt;Category Preference:&lt;/b&gt; Equity categories (Mid/Small Cap) led net inflows in FY 2024-25, followed by Index/ETF funds.</a:t>
            </a:r>
          </a:p>
        </p:txBody>
      </p:sp>
      <p:pic>
        <p:nvPicPr>
          <p:cNvPr id="4" name="Picture 3" descr="06_category_inflow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EDA Highlights II: Investor Demographics &amp; Geographics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&lt;b&gt;Investor Profiles (5,000 Sample):&lt;/b&gt;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&lt;b&gt;Demographic Splits:&lt;/b&gt; Age group 26-35 represents the largest investor base (38%), followed by 36-45 (29%).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&lt;b&gt;Geography Contribution:&lt;/b&gt; T30 (Top 30 cities) accounts for 62% of investment volume. B30 (Beyond Top 30) is growing rapidly.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&lt;b&gt;Regional Leads:&lt;/b&gt; Maharashtra, Gujarat, and Karnataka are the top states by transaction volume.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&lt;b&gt;Regular Contributions:&lt;/b&gt; SIP transactions account for 78% of the transaction volume.</a:t>
            </a:r>
          </a:p>
        </p:txBody>
      </p:sp>
      <p:pic>
        <p:nvPicPr>
          <p:cNvPr id="4" name="Picture 3" descr="07_investor_ag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Performance Analytics I: Scorecard Rankings &amp; CAGR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&lt;b&gt;Fund Scorecard Methodology:&lt;/b&gt;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&lt;b&gt;Composite Scoring:&lt;/b&gt; Calculated based on 3yr Return (30%), Sharpe (25%), Alpha (20%), Expense Ratio (15%, inverse), and Max Drawdown (10%, inverse).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&lt;b&gt;Top Performing Funds:&lt;/b&gt;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1. &lt;b&gt;HDFC Top 100 Fund:&lt;/b&gt; Ranked 1st in large-cap category.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2. &lt;b&gt;Kotak Emerging Equity:&lt;/b&gt; Outperformed mid-cap peers.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3. &lt;b&gt;SBI Small Cap Fund:&lt;/b&gt; Ranked 1st in small-cap category.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&lt;b&gt;Index Outperformance:&lt;/b&gt; Active mid and small-cap managers generated significant alpha over their benchmarks.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Performance Analytics II: Risk Metrics (Sharpe, VaR &amp; HHI)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&lt;b&gt;Risk Metrics and Concentration Analysis:&lt;/b&gt;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&lt;b&gt;Sharpe &amp; Sortino:&lt;/b&gt; Large-cap funds (HDFC Top 100, Sharpe = 1.06) showed higher risk-adjusted efficiency than small-cap funds.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&lt;b&gt;Value at Risk (95% VaR):&lt;/b&gt; Small-cap funds showed the highest downside risk, with a 95% daily VaR of ~2.5%. Debt and liquid funds remained stable.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&lt;b&gt;Portfolio Concentration (HHI):&lt;/b&gt; HHI values indicate that large-cap funds have higher sector concentration (HHI &gt; 2,500). Mid and small-cap funds are more diversified (HHI ~1,500).</a:t>
            </a:r>
          </a:p>
        </p:txBody>
      </p:sp>
      <p:pic>
        <p:nvPicPr>
          <p:cNvPr id="4" name="Picture 3" descr="sector_hhi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Dashboard Walkthrough I: Industry Overview &amp;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Dashboard Walkthrough II: Investor Analytics &amp;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Key Business Findings &amp; Operational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&lt;b&gt;Core Strategic Takeaways:&lt;/b&gt;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&lt;b&gt;SIP Continuity Risk:&lt;/b&gt; ~97.8% of investors have average gaps between SIP dates exceeding 35 days, indicating irregular contributions. AMCs should implement auto-pay mandates and notifications.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&lt;b&gt;Sector Concentration:&lt;/b&gt; Large-cap funds showed higher sector concentration (HHI &gt; 2,500). Wealth managers should monitor portfolio concentration.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&lt;b&gt;Emerging Cohorts:&lt;/b&gt; Newer cohorts (2025) are committing higher monthly ticket sizes despite smaller cohort volume.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&lt;b&gt;Automation:&lt;/b&gt; Deploy the ETL pipeline as a scheduled job to automate reporting.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>
              <a:spcBef>
                <a:spcPts val="2000"/>
              </a:spcBef>
              <a:defRPr sz="1600">
                <a:solidFill>
                  <a:srgbClr val="0D9488"/>
                </a:solidFill>
                <a:latin typeface="Arial"/>
              </a:defRPr>
            </a:pPr>
            <a:r>
              <a:t>Questions &amp; Discussion | Bluestock Mutual Fund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  <a:latin typeface="Arial"/>
              </a:defRPr>
            </a:pPr>
            <a:r>
              <a:t>Website: bluestock.in</a:t>
            </a:r>
            <a:br/>
            <a:r>
              <a:t>Prepared for Capstone Submission,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